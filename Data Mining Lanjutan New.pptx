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9873FC-3F18-46E9-8A20-932A96B140BF}">
  <a:tblStyle styleId="{A89873FC-3F18-46E9-8A20-932A96B140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99846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TEKNOLOGI INFORMASI &amp; DATA SCIENCE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52412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Data Mining Fundamental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933825"/>
            <a:ext cx="952500" cy="571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371975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Analisis Mendalam: Klasifikasi, Clustering, dan Prediksi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95275" y="2193577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Apa itu Data Mining?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809750" y="3384202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Proses ekstraksi pola atau informasi menarik yang tidak diketahui sebelumnya dari kumpulan data besar untuk mendukung pengambilan keputusan yang cerdas.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295275" y="2093565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 Pilar Utama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Analisis Data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43986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Memahami perbedaan fungsional antara Klasifikasi, Clustering, dan Prediksi dalam ekosistem Data Mining.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574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571500" y="220444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Definisi Kategori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571500" y="2804517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Metode untuk memprediksi </a:t>
            </a:r>
            <a:r>
              <a:rPr lang="en-US" sz="165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label kategori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atau </a:t>
            </a:r>
            <a:r>
              <a:rPr lang="en-US" sz="16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class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dari data baru berdasarkan pola yang dipelajari dari data historis yang sudah diberi label.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1000125" y="4000500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Membutuhkan Data Latih (Training Data).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1000125" y="4573785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Output berupa label diskrit/kategori.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000125" y="5147071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Belajar dari contoh yang sudah benar.</a:t>
            </a:r>
            <a:endParaRPr/>
          </a:p>
        </p:txBody>
      </p:sp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386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1188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18517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Klasifikasi (Supervised Learning)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Classification Diagram">
            <a:extLst>
              <a:ext uri="{FF2B5EF4-FFF2-40B4-BE49-F238E27FC236}">
                <a16:creationId xmlns:a16="http://schemas.microsoft.com/office/drawing/2014/main" id="{276DB8A8-B8DE-4894-A7FD-FA8B1F82F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2044896"/>
            <a:ext cx="5238750" cy="392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8103"/>
            <a:ext cx="3492549" cy="3988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68103"/>
            <a:ext cx="3492549" cy="3988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68103"/>
            <a:ext cx="3492549" cy="39885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94237" y="3168253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Decision Tree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962025" y="3768328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 prediksi menggunakan struktur pohon keputusan untuk mencapai kesimpulan akhir.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4672537" y="3168253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Naive Bayes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740324" y="3768328"/>
            <a:ext cx="27114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Berdasarkan Teorema Bayes dengan asumsi independensi antar fitur data.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450836" y="3168253"/>
            <a:ext cx="284707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K-Nearest Neighbor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518624" y="4225528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Mengklasifikasikan data berdasarkan mayoritas kategori tetangga terdekatnya.</a:t>
            </a:r>
            <a:endParaRPr/>
          </a:p>
        </p:txBody>
      </p:sp>
      <p:pic>
        <p:nvPicPr>
          <p:cNvPr id="135" name="Google Shape;13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1000" y="2406253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15025" y="2406253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4262" y="2406253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Algoritma Populer Klasifikasi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809625" y="1757660"/>
            <a:ext cx="49506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Clustering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175766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282446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3424535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Teknik pengelompokan data ke dalam </a:t>
            </a:r>
            <a:r>
              <a:rPr lang="en-US" sz="165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cluster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berdasarkan kemiripan karakteristik, tanpa memerlukan label kategori di awal.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430017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Tujuan utamanya adalah menemukan struktur alami dalam dataset yang tidak terorganisir.</a:t>
            </a:r>
            <a:endParaRPr/>
          </a:p>
        </p:txBody>
      </p:sp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7653"/>
            <a:ext cx="3492549" cy="3569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77653"/>
            <a:ext cx="3492549" cy="3569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77653"/>
            <a:ext cx="3492549" cy="356949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894237" y="3377803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K-Means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962025" y="3977878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Membagi data ke dalam K kelompok dengan meminimalkan jarak ke pusat cluster (centroid).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672537" y="3377803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Hierarchical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4740324" y="3977878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Membangun hierarki cluster baik dengan pendekatan penggabungan atau pembagian.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450836" y="3377803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DBSCAN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518624" y="3977878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Pengelompokan berbasis kepadatan yang sangat efektif untuk menemukan cluster berbentuk unik.</a:t>
            </a:r>
            <a:endParaRPr/>
          </a:p>
        </p:txBody>
      </p:sp>
      <p:pic>
        <p:nvPicPr>
          <p:cNvPr id="165" name="Google Shape;16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61580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300" y="2615803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4262" y="2615803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Algoritma Populer Clustering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574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220444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Estimasi Nilai Numerik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2804517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Sering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disebut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regresi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teknik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ini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memprediksi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nilai</a:t>
            </a:r>
            <a:r>
              <a:rPr lang="en-US" sz="1650" b="1" i="0" u="none" strike="noStrike" cap="none" dirty="0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kontinu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angka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 di masa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depan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berdasarkan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tren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data masa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lalu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78" name="Google Shape;17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66925"/>
            <a:ext cx="12858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1000125" y="4000500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Fokus pada variabel dependen numerik.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000125" y="4573785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Digunakan untuk peramalan (forecasting).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000125" y="5147071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Sering melibatkan data deret waktu (time-series).</a:t>
            </a:r>
            <a:endParaRPr/>
          </a:p>
        </p:txBody>
      </p:sp>
      <p:pic>
        <p:nvPicPr>
          <p:cNvPr id="182" name="Google Shape;18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386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1188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8517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Prediksi &amp; Regresi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Prediction Graph">
            <a:extLst>
              <a:ext uri="{FF2B5EF4-FFF2-40B4-BE49-F238E27FC236}">
                <a16:creationId xmlns:a16="http://schemas.microsoft.com/office/drawing/2014/main" id="{D3ED1560-DBBA-43DC-B2A4-D169B099B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2057400"/>
            <a:ext cx="5191125" cy="324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2238375" y="2480667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Pengumpulan Data Historis: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Mengambil data masa lalu yang relevan dengan target prediksi.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2238375" y="3389114"/>
            <a:ext cx="8143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Preprocessing: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Membersihkan data dari noise dan menangani nilai yang hilang.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2238375" y="3962400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Pemilihan Model: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Menggunakan algoritma seperti Linear Regression atau Neural Networks.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2238375" y="4870846"/>
            <a:ext cx="8143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Validasi: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Mengukur tingkat error (seperti MAE atau RMSE) untuk memastikan akurasi.</a:t>
            </a:r>
            <a:endParaRPr/>
          </a:p>
        </p:txBody>
      </p:sp>
      <p:pic>
        <p:nvPicPr>
          <p:cNvPr id="196" name="Google Shape;19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1876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42721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0005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90894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Alur Kerja Proses Prediksi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/>
          <p:nvPr/>
        </p:nvSpPr>
        <p:spPr>
          <a:xfrm>
            <a:off x="571500" y="1894730"/>
            <a:ext cx="11049000" cy="4135189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22"/>
          <p:cNvGraphicFramePr/>
          <p:nvPr>
            <p:extLst>
              <p:ext uri="{D42A27DB-BD31-4B8C-83A1-F6EECF244321}">
                <p14:modId xmlns:p14="http://schemas.microsoft.com/office/powerpoint/2010/main" val="2050123125"/>
              </p:ext>
            </p:extLst>
          </p:nvPr>
        </p:nvGraphicFramePr>
        <p:xfrm>
          <a:off x="571500" y="1894730"/>
          <a:ext cx="11049000" cy="4135150"/>
        </p:xfrm>
        <a:graphic>
          <a:graphicData uri="http://schemas.openxmlformats.org/drawingml/2006/table">
            <a:tbl>
              <a:tblPr firstRow="1" bandRow="1">
                <a:noFill/>
                <a:tableStyleId>{A89873FC-3F18-46E9-8A20-932A96B140BF}</a:tableStyleId>
              </a:tblPr>
              <a:tblGrid>
                <a:gridCol w="218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A3E6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Fitur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A3E6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Klasifikasi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A3E6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Clustering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Jenis Learning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Supervised (Terarah)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Unsupervised (Tidak Terarah)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Label Data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Wajib ada label di awal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Tidak membutuhkan label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Tujuan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Memasukkan data ke kelas yang ada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Mencari kelompok baru dalam data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7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Output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Label </a:t>
                      </a:r>
                      <a:r>
                        <a:rPr lang="en-US" sz="165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Kategori</a:t>
                      </a:r>
                      <a:r>
                        <a:rPr lang="en-US" sz="165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(Spam/Not Spam)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Grup</a:t>
                      </a:r>
                      <a:r>
                        <a:rPr lang="en-US" sz="165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/Cluster (</a:t>
                      </a:r>
                      <a:r>
                        <a:rPr lang="en-US" sz="165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Segmen</a:t>
                      </a:r>
                      <a:r>
                        <a:rPr lang="en-US" sz="165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A, B, C)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9" name="Google Shape;209;p22"/>
          <p:cNvSpPr/>
          <p:nvPr/>
        </p:nvSpPr>
        <p:spPr>
          <a:xfrm>
            <a:off x="571500" y="2731889"/>
            <a:ext cx="21846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2756148" y="2731889"/>
            <a:ext cx="4483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7239446" y="2731889"/>
            <a:ext cx="43810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71500" y="3552825"/>
            <a:ext cx="21846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2756148" y="3552825"/>
            <a:ext cx="4483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7239446" y="3552825"/>
            <a:ext cx="43810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00" y="4373760"/>
            <a:ext cx="21846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756148" y="4373760"/>
            <a:ext cx="4483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7239446" y="4373760"/>
            <a:ext cx="43810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5194696"/>
            <a:ext cx="21846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2756148" y="5194696"/>
            <a:ext cx="4483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7239446" y="5194696"/>
            <a:ext cx="43810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71500" y="6015632"/>
            <a:ext cx="21846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2756148" y="6015632"/>
            <a:ext cx="4483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7239446" y="6015632"/>
            <a:ext cx="43810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Klasifikasi vs Clustering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7051"/>
            <a:ext cx="3492549" cy="3670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27051"/>
            <a:ext cx="3492549" cy="3670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27051"/>
            <a:ext cx="3492549" cy="3670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517576"/>
            <a:ext cx="271149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517576"/>
            <a:ext cx="271149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517576"/>
            <a:ext cx="271149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894237" y="4136826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Kesehatan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962025" y="4736901"/>
            <a:ext cx="27114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Klasifikasi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penyakit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pasien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berdasarkan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gejala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klinis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39" name="Google Shape;239;p23"/>
          <p:cNvSpPr txBox="1"/>
          <p:nvPr/>
        </p:nvSpPr>
        <p:spPr>
          <a:xfrm>
            <a:off x="4672537" y="4136826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Pemasaran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4740324" y="4736901"/>
            <a:ext cx="27114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Clustering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pelanggan untuk strategi segmentasi pasar.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450836" y="4136826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Keuangan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8518624" y="4736901"/>
            <a:ext cx="27114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Prediksi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harga saham dan deteksi penipuan transaksi.</a:t>
            </a:r>
            <a:endParaRPr/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1550" y="2527101"/>
            <a:ext cx="2692449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49849" y="2527101"/>
            <a:ext cx="2692449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28149" y="2527101"/>
            <a:ext cx="2692449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Aplikasi dalam Industri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295275" y="209460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571500" y="3428107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Ada Pertanyaan Terkait Data Mining?</a:t>
            </a:r>
            <a:endParaRPr/>
          </a:p>
        </p:txBody>
      </p:sp>
      <p:pic>
        <p:nvPicPr>
          <p:cNvPr id="255" name="Google Shape;25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0462" y="451574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9362" y="451574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/>
          <p:nvPr/>
        </p:nvSpPr>
        <p:spPr>
          <a:xfrm>
            <a:off x="571500" y="16383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242307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20784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99261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477738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24135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24135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31983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31983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39830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39830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47678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47678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55526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55526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87723"/>
            <a:ext cx="2695575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66875" y="17811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https://machinelearningmastery.com/wp-content/uploads/2020/01/Scatter-Plot-of-Multi-Class-Classification-Dataset.png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66875" y="20268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machinelearningmastery.com</a:t>
            </a:r>
            <a:endParaRPr/>
          </a:p>
        </p:txBody>
      </p:sp>
      <p:pic>
        <p:nvPicPr>
          <p:cNvPr id="280" name="Google Shape;28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724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666875" y="256594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https://i.sstatic.net/VqdbM.png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28116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stackoverflow.com</a:t>
            </a:r>
            <a:endParaRPr/>
          </a:p>
        </p:txBody>
      </p:sp>
      <p:pic>
        <p:nvPicPr>
          <p:cNvPr id="283" name="Google Shape;28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57264"/>
            <a:ext cx="1171575" cy="100548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666875" y="335071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https://miro.medium.com/v2/resize:fit:1400/1*ZnWFtSXG7FFOOgfXjmqWig.png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666875" y="359643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286" name="Google Shape;28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42035"/>
            <a:ext cx="2038350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666875" y="413548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https://media.istockphoto.com/id/922551734/vector/medical-white-cross.jpg?s=612x612&amp;w=0&amp;k=20&amp;c=d65GPwOOyRVlFEPNSu8_Q7KdF1-CQmT4SZpN6nVUIZI=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666875" y="438120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id="289" name="Google Shape;289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268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1666875" y="492025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https://www.omniconvert.com/wp-content/uploads/2024/04/customer-behaviour-segmentation.webp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666875" y="51659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www.omniconvert.com</a:t>
            </a:r>
            <a:endParaRPr/>
          </a:p>
        </p:txBody>
      </p:sp>
      <p:pic>
        <p:nvPicPr>
          <p:cNvPr id="292" name="Google Shape;292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810696"/>
            <a:ext cx="1752600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1666875" y="570502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https://static.vecteezy.com/system/resources/previews/069/303/429/non_2x/up-and-down-dollar-arrows-with-currency-symbols-financial-gain-and-loss-icon-stock-market-fluctuation-investment-return-economy-trend-vector.jpg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666875" y="61488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242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1666875" y="361860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https://media.istockphoto.com/id/2226479351/photo/futuristic-abstract-network-background-with-glowing-dots-and-connecting-lines-representing.jpg?s=612x612&amp;w=0&amp;k=20&amp;c=K2L2BND0ai7TgSW4_EWUTkVh_lOtpaIoR_Yz0-fKgT8=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1666875" y="40624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634</Words>
  <Application>Microsoft Office PowerPoint</Application>
  <PresentationFormat>Widescreen</PresentationFormat>
  <Paragraphs>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Poppins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Irfan Nurdiansyah</cp:lastModifiedBy>
  <cp:revision>3</cp:revision>
  <dcterms:modified xsi:type="dcterms:W3CDTF">2026-06-04T14:11:00Z</dcterms:modified>
</cp:coreProperties>
</file>